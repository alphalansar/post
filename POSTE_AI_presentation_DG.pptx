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Ouverture. POSTE AI n'est pas un chatbot : c'est un système d'intelligence décisionnelle avec un assistant IA intégré. Objectif de la séance : montrer ce que deviendrait le pilotage de La Poste une fois connecté aux données réelles.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: le problème n'est pas le manque de données, c'est le manque d'un système qui les transforme en décision.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rôle voit un périmètre adapté. L'interface est déjà pensée pour ce cloisonnement.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5 verbes structurent toute l'application et le déroulé de la démo.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Écran d'ouverture de la démo : « Voici la situation globale de La Poste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Cliquer une agence en difficulté et lire le diagnostic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Nous pouvons anticiper l'évolution de l'activité.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Le système détecte automatiquement un comportement inhabituel.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Demander : « Quelles sont les principales priorités pour la Direction ?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Nous pouvons tester différents scénarios avant de prendre une décision.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Rassurer la DSI : rien n'est figé, l'architecture est standard et sécurisée par conception.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Formuler une demande claire et limitée : un périmètre pilote + un accès données.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822960"/>
            <a:ext cx="822960" cy="82296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400" b="1">
                <a:solidFill>
                  <a:srgbClr val="0B1F3A"/>
                </a:solidFill>
                <a:latin typeface="Georgia"/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932688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POSTE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92807" y="153619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PLATEFORME D'INTELLIGENCE DÉCISIONNELLE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104241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L'intelligence des données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au service de la décision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C9D3E0"/>
                </a:solidFill>
                <a:latin typeface="Calibri"/>
              </a:rPr>
              <a:t>Transformer les données opérationnelles, financières, commerciales et territoriales de La Poste du Mali en informations exploitables, prévisions et recommandations.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80644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0">
                <a:solidFill>
                  <a:srgbClr val="C9A227"/>
                </a:solidFill>
                <a:latin typeface="Calibri"/>
              </a:rPr>
              <a:t>Prototype de démonstration — Données synthétiques — À présenter à la Direction Générale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CONTEXTE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Pourquoi maintenant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Un patrimoine de données riche, mais dispersé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Les données d'activité, de finance, de logistique et de réseau existent, mais restent cloisonnées et exploitées manuellement.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Le pilotage repose sur des rapports périodiques, tardifs et hétérogènes.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Les signaux faibles (sous-performance d'agence, dérive de coûts, retards logistiques) sont détectés trop tard.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Ce que la Direction attend d'un outil de pilotage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Voir en temps quasi réel, comprendre les causes, anticiper, et disposer de recommandations actionnables — au même endroit.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Calibri"/>
              </a:rPr>
              <a:t>POSTE AI  ·  Prototype de démonstration — Données synthétiques — Version conceptuelle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LE PRODUIT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Un système d'intelligence décisionnelle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POSTE AI n'est pas un chatbot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C'est une plateforme de pilotage pour la Direction Générale et les responsables habilités, avec un assistant IA intégré.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Elle couvre 10 modules : vue générale, performance, agences, courrier &amp; colis, finance, prévisions, risques &amp; alertes, intelligence IA, scénarios, rapports.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Calibri"/>
              </a:rPr>
              <a:t>POSTE AI  ·  Prototype de démonstration — Données synthétiques — Version conceptuelle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Calibr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617720"/>
            <a:ext cx="1481328" cy="685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DONNÉES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011680" y="4864608"/>
            <a:ext cx="164592" cy="18288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57984" y="4617720"/>
            <a:ext cx="1481328" cy="685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ANALYSE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621024" y="4864608"/>
            <a:ext cx="164592" cy="18288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67328" y="4617720"/>
            <a:ext cx="1481328" cy="685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IA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230368" y="4864608"/>
            <a:ext cx="164592" cy="18288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76672" y="4617720"/>
            <a:ext cx="1481328" cy="685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PRÉVISION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839712" y="4864608"/>
            <a:ext cx="164592" cy="18288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86016" y="4617720"/>
            <a:ext cx="1481328" cy="685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RISQUES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449056" y="4864608"/>
            <a:ext cx="164592" cy="18288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95360" y="4617720"/>
            <a:ext cx="1481328" cy="685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RECOMMANDATION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0058400" y="4864608"/>
            <a:ext cx="164592" cy="18288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204704" y="4617720"/>
            <a:ext cx="1481328" cy="685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DÉCISION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440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 i="1">
                <a:solidFill>
                  <a:srgbClr val="5B6675"/>
                </a:solidFill>
                <a:latin typeface="Calibri"/>
              </a:rPr>
              <a:t>De la donnée brute à la décision informée — une seule chaîne, un seul outil.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UTILISATEURS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Conçu pour les décideurs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548640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9344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Directions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12848"/>
            <a:ext cx="5486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Direction Générale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Direction des opérations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Direction financière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Direction commerciale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Direction informatique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554480"/>
            <a:ext cx="53035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0934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Réseau &amp; analyse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12848"/>
            <a:ext cx="53035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Responsables régionaux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Responsables d'agences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Analystes / contrôle de gestion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00" b="0">
                <a:solidFill>
                  <a:srgbClr val="5B6675"/>
                </a:solidFill>
                <a:latin typeface="Calibri"/>
              </a:rPr>
              <a:t>      –  </a:t>
            </a:r>
            <a:r>
              <a:rPr sz="1300" b="0">
                <a:solidFill>
                  <a:srgbClr val="5B6675"/>
                </a:solidFill>
                <a:latin typeface="Calibri"/>
              </a:rPr>
              <a:t>Accès par rôle (RBAC) : ADMIN, DIRECTION_GÉNÉRALE, DIRECTION_FINANCIÈRE, DIRECTION_OPÉRATIONS, RESPONSABLE_RÉGIONAL, ANALYSTE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Calibri"/>
              </a:rPr>
              <a:t>POSTE AI  ·  Prototype de démonstration — Données synthétiques — Version conceptuelle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PHILOSOPHIE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SEE · UNDERSTAND · PREDICT · RECOMMEND · DECIDE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1737360" cy="7315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9A227"/>
                </a:solidFill>
                <a:latin typeface="Calibri"/>
              </a:rPr>
              <a:t>SEE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618488"/>
            <a:ext cx="8961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Voir ce qui se passe — </a:t>
            </a:r>
            <a:r>
              <a:rPr sz="1300" b="0">
                <a:solidFill>
                  <a:srgbClr val="5B6675"/>
                </a:solidFill>
                <a:latin typeface="Calibri"/>
              </a:rPr>
              <a:t>KPI consolidés, performance par région et par agence.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32888"/>
            <a:ext cx="1737360" cy="7315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9A227"/>
                </a:solidFill>
                <a:latin typeface="Calibri"/>
              </a:rPr>
              <a:t>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551176"/>
            <a:ext cx="8961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Comprendre pourquoi — </a:t>
            </a:r>
            <a:r>
              <a:rPr sz="1300" b="0">
                <a:solidFill>
                  <a:srgbClr val="5B6675"/>
                </a:solidFill>
                <a:latin typeface="Calibri"/>
              </a:rPr>
              <a:t>AI Insights : causes, contributions, tendances.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465576"/>
            <a:ext cx="1737360" cy="7315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9A227"/>
                </a:solidFill>
                <a:latin typeface="Calibri"/>
              </a:rPr>
              <a:t>PREDICT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483864"/>
            <a:ext cx="8961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Anticiper — </a:t>
            </a:r>
            <a:r>
              <a:rPr sz="1300" b="0">
                <a:solidFill>
                  <a:srgbClr val="5B6675"/>
                </a:solidFill>
                <a:latin typeface="Calibri"/>
              </a:rPr>
              <a:t>Prévisions 30 / 90 jours avec intervalle de confiance.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398264"/>
            <a:ext cx="1737360" cy="7315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9A227"/>
                </a:solidFill>
                <a:latin typeface="Calibri"/>
              </a:rPr>
              <a:t>RECOMMEND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416552"/>
            <a:ext cx="8961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Recommander — </a:t>
            </a:r>
            <a:r>
              <a:rPr sz="1300" b="0">
                <a:solidFill>
                  <a:srgbClr val="5B6675"/>
                </a:solidFill>
                <a:latin typeface="Calibri"/>
              </a:rPr>
              <a:t>Actions prioritaires générées et traçables.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30952"/>
            <a:ext cx="1737360" cy="7315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9A227"/>
                </a:solidFill>
                <a:latin typeface="Calibri"/>
              </a:rPr>
              <a:t>DECIDE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5349240"/>
            <a:ext cx="8961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Décider — </a:t>
            </a:r>
            <a:r>
              <a:rPr sz="1300" b="0">
                <a:solidFill>
                  <a:srgbClr val="5B6675"/>
                </a:solidFill>
                <a:latin typeface="Calibri"/>
              </a:rPr>
              <a:t>Simulateur de scénarios avant l'arbitrage.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Calibri"/>
              </a:rPr>
              <a:t>POSTE AI  ·  Prototype de démonstration — Données synthétiques — Version conceptuelle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MODULE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Vue générale — Tableau de bord exécutif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KPI consolidés : chiffre d'affaires, colis, transactions, courrier, agences actives, taux de service.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Graphique d'évolution multi-métriques + performance par région avec badges (Excellent → Critique).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AI Insights automatiques et panneau d'alertes prioritaires.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00" b="0">
                <a:solidFill>
                  <a:srgbClr val="5B6675"/>
                </a:solidFill>
                <a:latin typeface="Calibri"/>
              </a:rPr>
              <a:t>      –  </a:t>
            </a:r>
            <a:r>
              <a:rPr sz="1300" b="0">
                <a:solidFill>
                  <a:srgbClr val="5B6675"/>
                </a:solidFill>
                <a:latin typeface="Calibri"/>
              </a:rPr>
              <a:t>En &lt; 10 s : où en est La Poste, ce qui va bien, ce qui pose problème, ce qui risque d'arriver.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Calibri"/>
              </a:rPr>
              <a:t>POSTE AI  ·  Prototype de démonstration — Données synthétiques — Version conceptuelle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MODULES 02–03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Performance &amp; Réseau d'agences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Analyse par CA, transactions, colis, courrier, dépenses, agents, fréquentation — filtres région / agence / service.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Table de 30 agences : score, croissance, coût, rentabilité, risque, statut.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Fiche agence : score /100, historique, diagnostic IA et recommandations ciblées.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00" b="0">
                <a:solidFill>
                  <a:srgbClr val="5B6675"/>
                </a:solidFill>
                <a:latin typeface="Calibri"/>
              </a:rPr>
              <a:t>      –  </a:t>
            </a:r>
            <a:r>
              <a:rPr sz="1300" b="0">
                <a:solidFill>
                  <a:srgbClr val="5B6675"/>
                </a:solidFill>
                <a:latin typeface="Calibri"/>
              </a:rPr>
              <a:t>« Nous pouvons descendre jusqu'au niveau opérationnel. 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Calibri"/>
              </a:rPr>
              <a:t>POSTE AI  ·  Prototype de démonstration — Données synthétiques — Version conceptuelle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MODULE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Courrier &amp; Colis — Intelligence logistique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Colis entrants / sortants, livraisons, retards, taux de livraison, délai moyen.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Volumes et délais sur 12 mois, répartition par région, Top 10 des corridors.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Alertes logistiques (ex. corridor Nord : délais anormaux).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Calibri"/>
              </a:rPr>
              <a:t>POSTE AI  ·  Prototype de démonstration — Données synthétiques — Version conceptuelle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MODULE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Finance — Intelligence financière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Revenus, dépenses, marge, coûts opérationnels, budget, écart budgétaire.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Revenus vs dépenses, budget vs réalisé, rentabilité par agence.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AI Financial Insights : « les coûts opérationnels progressent plus vite que les revenus dans certaines agences 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Calibri"/>
              </a:rPr>
              <a:t>POSTE AI  ·  Prototype de démonstration — Données synthétiques — Version conceptuelle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MODULE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Prévisions — Forecasting &amp; Predictive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Projection du CA, des colis, des transactions et du courrier à 30 et 90 jours.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Intervalle de confiance à 90 % et indicateur de fiabilité du modèle.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00" b="0">
                <a:solidFill>
                  <a:srgbClr val="5B6675"/>
                </a:solidFill>
                <a:latin typeface="Calibri"/>
              </a:rPr>
              <a:t>      –  </a:t>
            </a:r>
            <a:r>
              <a:rPr sz="1300" b="0">
                <a:solidFill>
                  <a:srgbClr val="5B6675"/>
                </a:solidFill>
                <a:latin typeface="Calibri"/>
              </a:rPr>
              <a:t>Libellé explicite : MODÈLE SIMULÉ — DONNÉES DE DÉMONSTRATION.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Calibri"/>
              </a:rPr>
              <a:t>POSTE AI  ·  Prototype de démonstration — Données synthétiques — Version conceptuelle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MODULE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Risques &amp; Anomalies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Matrice probabilité × impact par catégorie (opérationnel, financier, commercial, logistique, réseau).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Détection d'anomalies : valeur attendue vs observée, écart, sévérité.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Alertes prioritaires : date, niveau, objet, impact, statut.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Calibri"/>
              </a:rPr>
              <a:t>POSTE AI  ·  Prototype de démonstration — Données synthétiques — Version conceptuelle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MODULE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POSTE AI Copilot — Intelligence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Questions en langage naturel : « Quelles agences présentent les plus grands risques ? »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Réponses analytiques : synthèse chiffrée, graphiques intégrés, causes probables, recommandations.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00" b="0">
                <a:solidFill>
                  <a:srgbClr val="5B6675"/>
                </a:solidFill>
                <a:latin typeface="Calibri"/>
              </a:rPr>
              <a:t>      –  </a:t>
            </a:r>
            <a:r>
              <a:rPr sz="1300" b="0">
                <a:solidFill>
                  <a:srgbClr val="5B6675"/>
                </a:solidFill>
                <a:latin typeface="Calibri"/>
              </a:rPr>
              <a:t>Aide à la décision — pas de décision automatique. Traçabilité et validation humaine.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Calibri"/>
              </a:rPr>
              <a:t>POSTE AI  ·  Prototype de démonstration — Données synthétiques — Version conceptuelle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MODULE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Decision Simulator — Scénarios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Leviers : investissement, personnel, horaires, capacité logistique, digitalisation.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Impact estimé sur CA, transactions, colis, coûts et rentabilité, en temps réel.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00" b="0">
                <a:solidFill>
                  <a:srgbClr val="5B6675"/>
                </a:solidFill>
                <a:latin typeface="Calibri"/>
              </a:rPr>
              <a:t>      –  </a:t>
            </a:r>
            <a:r>
              <a:rPr sz="1300" b="0">
                <a:solidFill>
                  <a:srgbClr val="5B6675"/>
                </a:solidFill>
                <a:latin typeface="Calibri"/>
              </a:rPr>
              <a:t>Simulation indicative basée sur des données synthétiques.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Calibri"/>
              </a:rPr>
              <a:t>POSTE AI  ·  Prototype de démonstration — Données synthétiques — Version conceptuelle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MODULE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Rapports exécutifs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Rapports quotidien, hebdomadaire, mensuel, trimestriel.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Aperçu, génération et export PDF (simulés dans le prototype).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Centre de notifications : alertes, anomalies, prévisions, rapports disponibles.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Calibri"/>
              </a:rPr>
              <a:t>POSTE AI  ·  Prototype de démonstration — Données synthétiques — Version conceptuelle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SOUS LE CAPOT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Architecture cible &amp; sécurité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548640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9344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Chaîne de traitement (Phase 2+)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12848"/>
            <a:ext cx="5486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Sources → Data Integration Layer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Data Lake / Data Warehouse (PostgreSQL)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Analytics Engine (KPI, scores, classements)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ML Engine (prévision, anomalies, risques)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AI / LLM Layer (copilote, RAG, explications)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Decision Engine → Dashboard · Copilot · Reports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554480"/>
            <a:ext cx="53035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0934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Sécurité &amp; IA responsable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12848"/>
            <a:ext cx="53035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RBAC, moindre privilège, journaux d'audit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Chiffrement, authentification des API, gouvernance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Traçabilité des recommandations, niveau de confiance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Explication des prédictions, validation humaine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00" b="0">
                <a:solidFill>
                  <a:srgbClr val="5B6675"/>
                </a:solidFill>
                <a:latin typeface="Calibri"/>
              </a:rPr>
              <a:t>      –  </a:t>
            </a:r>
            <a:r>
              <a:rPr sz="1300" b="0">
                <a:solidFill>
                  <a:srgbClr val="5B6675"/>
                </a:solidFill>
                <a:latin typeface="Calibri"/>
              </a:rPr>
              <a:t>Aucune décision critique automatisée sans contrôle humain — DECISION SUPPORT, pas AUTOMATED DECISION MAKER.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Calibri"/>
              </a:rPr>
              <a:t>POSTE AI  ·  Prototype de démonstration — Données synthétiques — Version conceptuelle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TRAJECTOIRE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Vision de déploiement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1600200" cy="7498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673352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Prototype — </a:t>
            </a:r>
            <a:r>
              <a:rPr sz="1250" b="0">
                <a:solidFill>
                  <a:srgbClr val="5B6675"/>
                </a:solidFill>
                <a:latin typeface="Calibri"/>
              </a:rPr>
              <a:t>Maquette sur données synthétiques — validation de la valeur (en cours).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78608"/>
            <a:ext cx="1600200" cy="7498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606040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Pilote données réelles — </a:t>
            </a:r>
            <a:r>
              <a:rPr sz="1250" b="0">
                <a:solidFill>
                  <a:srgbClr val="5B6675"/>
                </a:solidFill>
                <a:latin typeface="Calibri"/>
              </a:rPr>
              <a:t>Un périmètre pilote + Data Warehouse + premiers modèles ML.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11296"/>
            <a:ext cx="1600200" cy="7498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3538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Connexion aux SI — </a:t>
            </a:r>
            <a:r>
              <a:rPr sz="1250" b="0">
                <a:solidFill>
                  <a:srgbClr val="5B6675"/>
                </a:solidFill>
                <a:latin typeface="Calibri"/>
              </a:rPr>
              <a:t>Intégration des applications métier, finance, logistique, réseau.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443984"/>
            <a:ext cx="1600200" cy="7498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4471416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Déploiement institutionnel — </a:t>
            </a:r>
            <a:r>
              <a:rPr sz="1250" b="0">
                <a:solidFill>
                  <a:srgbClr val="5B6675"/>
                </a:solidFill>
                <a:latin typeface="Calibri"/>
              </a:rPr>
              <a:t>Généralisation, formation, exploitation en continu.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76672"/>
            <a:ext cx="1600200" cy="7498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Phase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5404104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Prédictif avancé — </a:t>
            </a:r>
            <a:r>
              <a:rPr sz="1250" b="0">
                <a:solidFill>
                  <a:srgbClr val="5B6675"/>
                </a:solidFill>
                <a:latin typeface="Calibri"/>
              </a:rPr>
              <a:t>Recommandations proactives, LLM + RAG sur le patrimoine de données.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Calibri"/>
              </a:rPr>
              <a:t>POSTE AI  ·  Prototype de démonstration — Données synthétiques — Version conceptuelle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DÉCISION ATTENDUE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Prochaines étapes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Ce que nous proposons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Valider le principe d'un système d'intelligence décisionnelle pour La Poste du Mali.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Désigner un périmètre pilote (une direction ou une région) et un référent métier.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Donner accès à un premier jeu de données réelles pour la Phase 2.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Ce que la Phase 2 démontrera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Les mêmes écrans, alimentés par les vrais chiffres, avec prévisions recalées quotidiennement.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▸  </a:t>
            </a:r>
            <a:r>
              <a:rPr sz="1600" b="0">
                <a:solidFill>
                  <a:srgbClr val="1B2430"/>
                </a:solidFill>
                <a:latin typeface="Calibri"/>
              </a:rPr>
              <a:t>Un cadre de gouvernance et de sécurité opérationnel.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Calibri"/>
              </a:rPr>
              <a:t>POSTE AI  ·  Prototype de démonstration — Données synthétiques — Version conceptuelle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7744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« Voici à quoi pourrait ressembler le futur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système d'intelligence décisionnelle de La Poste du Mali.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41148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POSTE AI — SEE · UNDERSTAND · PREDICT · RECOMMEND · DECIDE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585216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000" b="0">
                <a:solidFill>
                  <a:srgbClr val="C9D3E0"/>
                </a:solidFill>
                <a:latin typeface="Calibri"/>
              </a:rPr>
              <a:t>Prototype de démonstration — Données synthétiques — Aucune donnée réelle de La Poste du Mali.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